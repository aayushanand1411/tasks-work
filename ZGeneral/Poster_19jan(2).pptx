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17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34" d="100"/>
          <a:sy n="34" d="100"/>
        </p:scale>
        <p:origin x="748"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yush Anand" userId="871d690d7b91f8e5" providerId="LiveId" clId="{32E43D1C-17C9-4B01-9BD8-C2EFDE1EEB0F}"/>
    <pc:docChg chg="undo custSel modSld">
      <pc:chgData name="Aayush Anand" userId="871d690d7b91f8e5" providerId="LiveId" clId="{32E43D1C-17C9-4B01-9BD8-C2EFDE1EEB0F}" dt="2026-01-19T08:59:18.847" v="2058" actId="1035"/>
      <pc:docMkLst>
        <pc:docMk/>
      </pc:docMkLst>
      <pc:sldChg chg="addSp delSp modSp mod setBg">
        <pc:chgData name="Aayush Anand" userId="871d690d7b91f8e5" providerId="LiveId" clId="{32E43D1C-17C9-4B01-9BD8-C2EFDE1EEB0F}" dt="2026-01-19T08:59:18.847" v="2058" actId="1035"/>
        <pc:sldMkLst>
          <pc:docMk/>
          <pc:sldMk cId="1567899150" sldId="256"/>
        </pc:sldMkLst>
        <pc:spChg chg="mod">
          <ac:chgData name="Aayush Anand" userId="871d690d7b91f8e5" providerId="LiveId" clId="{32E43D1C-17C9-4B01-9BD8-C2EFDE1EEB0F}" dt="2026-01-19T08:39:22.007" v="809" actId="403"/>
          <ac:spMkLst>
            <pc:docMk/>
            <pc:sldMk cId="1567899150" sldId="256"/>
            <ac:spMk id="5" creationId="{45C92719-3FDC-4F86-A2A2-9F19CC104926}"/>
          </ac:spMkLst>
        </pc:spChg>
        <pc:spChg chg="mod">
          <ac:chgData name="Aayush Anand" userId="871d690d7b91f8e5" providerId="LiveId" clId="{32E43D1C-17C9-4B01-9BD8-C2EFDE1EEB0F}" dt="2026-01-19T08:30:01.561" v="239" actId="14100"/>
          <ac:spMkLst>
            <pc:docMk/>
            <pc:sldMk cId="1567899150" sldId="256"/>
            <ac:spMk id="6" creationId="{03E53B97-32A3-412F-B15C-57F24C485F20}"/>
          </ac:spMkLst>
        </pc:spChg>
        <pc:spChg chg="mod">
          <ac:chgData name="Aayush Anand" userId="871d690d7b91f8e5" providerId="LiveId" clId="{32E43D1C-17C9-4B01-9BD8-C2EFDE1EEB0F}" dt="2026-01-19T08:57:03.135" v="1996" actId="20577"/>
          <ac:spMkLst>
            <pc:docMk/>
            <pc:sldMk cId="1567899150" sldId="256"/>
            <ac:spMk id="7" creationId="{EB37837D-2FE1-47ED-80E3-731C2A73CE50}"/>
          </ac:spMkLst>
        </pc:spChg>
        <pc:spChg chg="mod">
          <ac:chgData name="Aayush Anand" userId="871d690d7b91f8e5" providerId="LiveId" clId="{32E43D1C-17C9-4B01-9BD8-C2EFDE1EEB0F}" dt="2026-01-19T08:30:31.449" v="263" actId="14100"/>
          <ac:spMkLst>
            <pc:docMk/>
            <pc:sldMk cId="1567899150" sldId="256"/>
            <ac:spMk id="8" creationId="{75E8A91D-2961-4563-B284-3266743D1485}"/>
          </ac:spMkLst>
        </pc:spChg>
        <pc:spChg chg="del mod">
          <ac:chgData name="Aayush Anand" userId="871d690d7b91f8e5" providerId="LiveId" clId="{32E43D1C-17C9-4B01-9BD8-C2EFDE1EEB0F}" dt="2026-01-19T08:57:37.303" v="1997" actId="478"/>
          <ac:spMkLst>
            <pc:docMk/>
            <pc:sldMk cId="1567899150" sldId="256"/>
            <ac:spMk id="11" creationId="{E6C5D778-CF21-4ED5-84DD-567548834EBE}"/>
          </ac:spMkLst>
        </pc:spChg>
        <pc:spChg chg="mod">
          <ac:chgData name="Aayush Anand" userId="871d690d7b91f8e5" providerId="LiveId" clId="{32E43D1C-17C9-4B01-9BD8-C2EFDE1EEB0F}" dt="2026-01-19T08:33:41.640" v="540" actId="1036"/>
          <ac:spMkLst>
            <pc:docMk/>
            <pc:sldMk cId="1567899150" sldId="256"/>
            <ac:spMk id="12" creationId="{973A99A8-6737-4966-BEB9-7B8287BFB2B2}"/>
          </ac:spMkLst>
        </pc:spChg>
        <pc:spChg chg="mod">
          <ac:chgData name="Aayush Anand" userId="871d690d7b91f8e5" providerId="LiveId" clId="{32E43D1C-17C9-4B01-9BD8-C2EFDE1EEB0F}" dt="2026-01-19T08:59:18.847" v="2058" actId="1035"/>
          <ac:spMkLst>
            <pc:docMk/>
            <pc:sldMk cId="1567899150" sldId="256"/>
            <ac:spMk id="13" creationId="{9203FFD6-0476-4903-95C1-BA7F0DEE31EC}"/>
          </ac:spMkLst>
        </pc:spChg>
        <pc:spChg chg="mod">
          <ac:chgData name="Aayush Anand" userId="871d690d7b91f8e5" providerId="LiveId" clId="{32E43D1C-17C9-4B01-9BD8-C2EFDE1EEB0F}" dt="2026-01-19T08:37:49.054" v="661" actId="404"/>
          <ac:spMkLst>
            <pc:docMk/>
            <pc:sldMk cId="1567899150" sldId="256"/>
            <ac:spMk id="14" creationId="{3541188D-6998-44DB-913A-92217AACDFD7}"/>
          </ac:spMkLst>
        </pc:spChg>
        <pc:spChg chg="mod">
          <ac:chgData name="Aayush Anand" userId="871d690d7b91f8e5" providerId="LiveId" clId="{32E43D1C-17C9-4B01-9BD8-C2EFDE1EEB0F}" dt="2026-01-19T08:58:01.090" v="1998" actId="1076"/>
          <ac:spMkLst>
            <pc:docMk/>
            <pc:sldMk cId="1567899150" sldId="256"/>
            <ac:spMk id="17" creationId="{C76BF7D0-7107-4F0B-9728-49E9014D5018}"/>
          </ac:spMkLst>
        </pc:spChg>
        <pc:spChg chg="mod">
          <ac:chgData name="Aayush Anand" userId="871d690d7b91f8e5" providerId="LiveId" clId="{32E43D1C-17C9-4B01-9BD8-C2EFDE1EEB0F}" dt="2026-01-19T08:58:54.629" v="2046" actId="404"/>
          <ac:spMkLst>
            <pc:docMk/>
            <pc:sldMk cId="1567899150" sldId="256"/>
            <ac:spMk id="18" creationId="{038633E2-46E0-4EA0-8072-B2A526A7D652}"/>
          </ac:spMkLst>
        </pc:spChg>
        <pc:spChg chg="mod">
          <ac:chgData name="Aayush Anand" userId="871d690d7b91f8e5" providerId="LiveId" clId="{32E43D1C-17C9-4B01-9BD8-C2EFDE1EEB0F}" dt="2026-01-19T08:58:44.597" v="2033" actId="404"/>
          <ac:spMkLst>
            <pc:docMk/>
            <pc:sldMk cId="1567899150" sldId="256"/>
            <ac:spMk id="21" creationId="{B8ECE1BF-CB57-4102-810E-01086160E1ED}"/>
          </ac:spMkLst>
        </pc:spChg>
        <pc:spChg chg="del mod">
          <ac:chgData name="Aayush Anand" userId="871d690d7b91f8e5" providerId="LiveId" clId="{32E43D1C-17C9-4B01-9BD8-C2EFDE1EEB0F}" dt="2026-01-19T08:16:06.153" v="1" actId="478"/>
          <ac:spMkLst>
            <pc:docMk/>
            <pc:sldMk cId="1567899150" sldId="256"/>
            <ac:spMk id="22" creationId="{17A4BF4E-8E30-4D6A-AA87-82A2D89D19B7}"/>
          </ac:spMkLst>
        </pc:spChg>
        <pc:spChg chg="add mod">
          <ac:chgData name="Aayush Anand" userId="871d690d7b91f8e5" providerId="LiveId" clId="{32E43D1C-17C9-4B01-9BD8-C2EFDE1EEB0F}" dt="2026-01-19T08:58:19.103" v="2015" actId="1036"/>
          <ac:spMkLst>
            <pc:docMk/>
            <pc:sldMk cId="1567899150" sldId="256"/>
            <ac:spMk id="23" creationId="{ACD10298-C7D1-414E-8879-89EE737DE395}"/>
          </ac:spMkLst>
        </pc:spChg>
        <pc:spChg chg="add mod">
          <ac:chgData name="Aayush Anand" userId="871d690d7b91f8e5" providerId="LiveId" clId="{32E43D1C-17C9-4B01-9BD8-C2EFDE1EEB0F}" dt="2026-01-19T08:58:10.565" v="1999" actId="1076"/>
          <ac:spMkLst>
            <pc:docMk/>
            <pc:sldMk cId="1567899150" sldId="256"/>
            <ac:spMk id="24" creationId="{0BE7FC5A-51F9-4DEF-AA97-6CDB6FF81283}"/>
          </ac:spMkLst>
        </pc:spChg>
        <pc:picChg chg="add del mod">
          <ac:chgData name="Aayush Anand" userId="871d690d7b91f8e5" providerId="LiveId" clId="{32E43D1C-17C9-4B01-9BD8-C2EFDE1EEB0F}" dt="2026-01-19T08:34:41.616" v="556" actId="478"/>
          <ac:picMkLst>
            <pc:docMk/>
            <pc:sldMk cId="1567899150" sldId="256"/>
            <ac:picMk id="3" creationId="{B08E1F79-4408-4D8E-A975-F9C591281152}"/>
          </ac:picMkLst>
        </pc:picChg>
        <pc:picChg chg="add mod">
          <ac:chgData name="Aayush Anand" userId="871d690d7b91f8e5" providerId="LiveId" clId="{32E43D1C-17C9-4B01-9BD8-C2EFDE1EEB0F}" dt="2026-01-19T08:40:22.508" v="811" actId="14100"/>
          <ac:picMkLst>
            <pc:docMk/>
            <pc:sldMk cId="1567899150" sldId="256"/>
            <ac:picMk id="9" creationId="{F343D30F-7F31-40D0-906F-89A152143D24}"/>
          </ac:picMkLst>
        </pc:picChg>
        <pc:picChg chg="del mod">
          <ac:chgData name="Aayush Anand" userId="871d690d7b91f8e5" providerId="LiveId" clId="{32E43D1C-17C9-4B01-9BD8-C2EFDE1EEB0F}" dt="2026-01-19T08:28:24.175" v="165" actId="478"/>
          <ac:picMkLst>
            <pc:docMk/>
            <pc:sldMk cId="1567899150" sldId="256"/>
            <ac:picMk id="16" creationId="{2137B186-0A0C-4A7E-B672-EE2E27E97003}"/>
          </ac:picMkLst>
        </pc:picChg>
        <pc:picChg chg="mod">
          <ac:chgData name="Aayush Anand" userId="871d690d7b91f8e5" providerId="LiveId" clId="{32E43D1C-17C9-4B01-9BD8-C2EFDE1EEB0F}" dt="2026-01-19T08:38:48.685" v="802" actId="1037"/>
          <ac:picMkLst>
            <pc:docMk/>
            <pc:sldMk cId="1567899150" sldId="256"/>
            <ac:picMk id="1026" creationId="{C6ED152C-4F85-4E08-BF0B-BA0D4CDDBB39}"/>
          </ac:picMkLst>
        </pc:picChg>
        <pc:picChg chg="mod">
          <ac:chgData name="Aayush Anand" userId="871d690d7b91f8e5" providerId="LiveId" clId="{32E43D1C-17C9-4B01-9BD8-C2EFDE1EEB0F}" dt="2026-01-19T08:38:48.685" v="802" actId="1037"/>
          <ac:picMkLst>
            <pc:docMk/>
            <pc:sldMk cId="1567899150" sldId="256"/>
            <ac:picMk id="1028" creationId="{5D7604C1-1F5D-48E0-AAF8-A2246E6F424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06884C-1282-4532-866C-46A194FE814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1DF571-7D33-4581-9AB5-07B9BC56B3A1}" type="slidenum">
              <a:rPr lang="en-IN" smtClean="0"/>
              <a:t>‹#›</a:t>
            </a:fld>
            <a:endParaRPr lang="en-IN"/>
          </a:p>
        </p:txBody>
      </p:sp>
    </p:spTree>
    <p:extLst>
      <p:ext uri="{BB962C8B-B14F-4D97-AF65-F5344CB8AC3E}">
        <p14:creationId xmlns:p14="http://schemas.microsoft.com/office/powerpoint/2010/main" val="1691435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6884C-1282-4532-866C-46A194FE814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1DF571-7D33-4581-9AB5-07B9BC56B3A1}" type="slidenum">
              <a:rPr lang="en-IN" smtClean="0"/>
              <a:t>‹#›</a:t>
            </a:fld>
            <a:endParaRPr lang="en-IN"/>
          </a:p>
        </p:txBody>
      </p:sp>
    </p:spTree>
    <p:extLst>
      <p:ext uri="{BB962C8B-B14F-4D97-AF65-F5344CB8AC3E}">
        <p14:creationId xmlns:p14="http://schemas.microsoft.com/office/powerpoint/2010/main" val="2197924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06884C-1282-4532-866C-46A194FE814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1DF571-7D33-4581-9AB5-07B9BC56B3A1}" type="slidenum">
              <a:rPr lang="en-IN" smtClean="0"/>
              <a:t>‹#›</a:t>
            </a:fld>
            <a:endParaRPr lang="en-IN"/>
          </a:p>
        </p:txBody>
      </p:sp>
    </p:spTree>
    <p:extLst>
      <p:ext uri="{BB962C8B-B14F-4D97-AF65-F5344CB8AC3E}">
        <p14:creationId xmlns:p14="http://schemas.microsoft.com/office/powerpoint/2010/main" val="2934858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06884C-1282-4532-866C-46A194FE814C}"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1DF571-7D33-4581-9AB5-07B9BC56B3A1}" type="slidenum">
              <a:rPr lang="en-IN" smtClean="0"/>
              <a:t>‹#›</a:t>
            </a:fld>
            <a:endParaRPr lang="en-IN"/>
          </a:p>
        </p:txBody>
      </p:sp>
    </p:spTree>
    <p:extLst>
      <p:ext uri="{BB962C8B-B14F-4D97-AF65-F5344CB8AC3E}">
        <p14:creationId xmlns:p14="http://schemas.microsoft.com/office/powerpoint/2010/main" val="4270454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058863"/>
            <a:ext cx="9046274"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058863"/>
            <a:ext cx="9090826"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06884C-1282-4532-866C-46A194FE814C}" type="datetimeFigureOut">
              <a:rPr lang="en-IN" smtClean="0"/>
              <a:t>20-01-2026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51DF571-7D33-4581-9AB5-07B9BC56B3A1}" type="slidenum">
              <a:rPr lang="en-IN" smtClean="0"/>
              <a:t>‹#›</a:t>
            </a:fld>
            <a:endParaRPr lang="en-IN"/>
          </a:p>
        </p:txBody>
      </p:sp>
    </p:spTree>
    <p:extLst>
      <p:ext uri="{BB962C8B-B14F-4D97-AF65-F5344CB8AC3E}">
        <p14:creationId xmlns:p14="http://schemas.microsoft.com/office/powerpoint/2010/main" val="3925853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06884C-1282-4532-866C-46A194FE814C}" type="datetimeFigureOut">
              <a:rPr lang="en-IN" smtClean="0"/>
              <a:t>20-01-2026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51DF571-7D33-4581-9AB5-07B9BC56B3A1}" type="slidenum">
              <a:rPr lang="en-IN" smtClean="0"/>
              <a:t>‹#›</a:t>
            </a:fld>
            <a:endParaRPr lang="en-IN"/>
          </a:p>
        </p:txBody>
      </p:sp>
    </p:spTree>
    <p:extLst>
      <p:ext uri="{BB962C8B-B14F-4D97-AF65-F5344CB8AC3E}">
        <p14:creationId xmlns:p14="http://schemas.microsoft.com/office/powerpoint/2010/main" val="4277709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06884C-1282-4532-866C-46A194FE814C}" type="datetimeFigureOut">
              <a:rPr lang="en-IN" smtClean="0"/>
              <a:t>20-01-2026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51DF571-7D33-4581-9AB5-07B9BC56B3A1}" type="slidenum">
              <a:rPr lang="en-IN" smtClean="0"/>
              <a:t>‹#›</a:t>
            </a:fld>
            <a:endParaRPr lang="en-IN"/>
          </a:p>
        </p:txBody>
      </p:sp>
    </p:spTree>
    <p:extLst>
      <p:ext uri="{BB962C8B-B14F-4D97-AF65-F5344CB8AC3E}">
        <p14:creationId xmlns:p14="http://schemas.microsoft.com/office/powerpoint/2010/main" val="197251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5C06884C-1282-4532-866C-46A194FE814C}"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1DF571-7D33-4581-9AB5-07B9BC56B3A1}" type="slidenum">
              <a:rPr lang="en-IN" smtClean="0"/>
              <a:t>‹#›</a:t>
            </a:fld>
            <a:endParaRPr lang="en-IN"/>
          </a:p>
        </p:txBody>
      </p:sp>
    </p:spTree>
    <p:extLst>
      <p:ext uri="{BB962C8B-B14F-4D97-AF65-F5344CB8AC3E}">
        <p14:creationId xmlns:p14="http://schemas.microsoft.com/office/powerpoint/2010/main" val="1615456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a:t>Click icon to add picture</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5C06884C-1282-4532-866C-46A194FE814C}"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1DF571-7D33-4581-9AB5-07B9BC56B3A1}" type="slidenum">
              <a:rPr lang="en-IN" smtClean="0"/>
              <a:t>‹#›</a:t>
            </a:fld>
            <a:endParaRPr lang="en-IN"/>
          </a:p>
        </p:txBody>
      </p:sp>
    </p:spTree>
    <p:extLst>
      <p:ext uri="{BB962C8B-B14F-4D97-AF65-F5344CB8AC3E}">
        <p14:creationId xmlns:p14="http://schemas.microsoft.com/office/powerpoint/2010/main" val="177654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6884C-1282-4532-866C-46A194FE814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1DF571-7D33-4581-9AB5-07B9BC56B3A1}" type="slidenum">
              <a:rPr lang="en-IN" smtClean="0"/>
              <a:t>‹#›</a:t>
            </a:fld>
            <a:endParaRPr lang="en-IN"/>
          </a:p>
        </p:txBody>
      </p:sp>
    </p:spTree>
    <p:extLst>
      <p:ext uri="{BB962C8B-B14F-4D97-AF65-F5344CB8AC3E}">
        <p14:creationId xmlns:p14="http://schemas.microsoft.com/office/powerpoint/2010/main" val="2442934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6884C-1282-4532-866C-46A194FE814C}"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1DF571-7D33-4581-9AB5-07B9BC56B3A1}" type="slidenum">
              <a:rPr lang="en-IN" smtClean="0"/>
              <a:t>‹#›</a:t>
            </a:fld>
            <a:endParaRPr lang="en-IN"/>
          </a:p>
        </p:txBody>
      </p:sp>
    </p:spTree>
    <p:extLst>
      <p:ext uri="{BB962C8B-B14F-4D97-AF65-F5344CB8AC3E}">
        <p14:creationId xmlns:p14="http://schemas.microsoft.com/office/powerpoint/2010/main" val="3106176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75000"/>
                  </a:schemeClr>
                </a:solidFill>
              </a:defRPr>
            </a:lvl1pPr>
          </a:lstStyle>
          <a:p>
            <a:fld id="{5C06884C-1282-4532-866C-46A194FE814C}" type="datetimeFigureOut">
              <a:rPr lang="en-IN" smtClean="0"/>
              <a:t>20-01-2026</a:t>
            </a:fld>
            <a:endParaRPr lang="en-IN"/>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75000"/>
                  </a:schemeClr>
                </a:solidFill>
              </a:defRPr>
            </a:lvl1pPr>
          </a:lstStyle>
          <a:p>
            <a:fld id="{A51DF571-7D33-4581-9AB5-07B9BC56B3A1}" type="slidenum">
              <a:rPr lang="en-IN" smtClean="0"/>
              <a:t>‹#›</a:t>
            </a:fld>
            <a:endParaRPr lang="en-IN"/>
          </a:p>
        </p:txBody>
      </p:sp>
    </p:spTree>
    <p:extLst>
      <p:ext uri="{BB962C8B-B14F-4D97-AF65-F5344CB8AC3E}">
        <p14:creationId xmlns:p14="http://schemas.microsoft.com/office/powerpoint/2010/main" val="36431806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000">
              <a:schemeClr val="accent1">
                <a:lumMod val="5000"/>
                <a:lumOff val="95000"/>
              </a:schemeClr>
            </a:gs>
            <a:gs pos="59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C92719-3FDC-4F86-A2A2-9F19CC104926}"/>
              </a:ext>
            </a:extLst>
          </p:cNvPr>
          <p:cNvSpPr/>
          <p:nvPr/>
        </p:nvSpPr>
        <p:spPr>
          <a:xfrm>
            <a:off x="2964494" y="574442"/>
            <a:ext cx="15457714" cy="25147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6000" b="1" dirty="0">
                <a:solidFill>
                  <a:schemeClr val="tx1"/>
                </a:solidFill>
              </a:rPr>
              <a:t>LLM Based Web Application For SQAG Document’s Verification</a:t>
            </a:r>
            <a:endParaRPr lang="en-US" sz="4000" b="1" dirty="0">
              <a:solidFill>
                <a:schemeClr val="tx1"/>
              </a:solidFill>
            </a:endParaRPr>
          </a:p>
          <a:p>
            <a:pPr algn="ctr"/>
            <a:r>
              <a:rPr lang="en-US" sz="2800" b="1" dirty="0">
                <a:solidFill>
                  <a:schemeClr val="tx1"/>
                </a:solidFill>
              </a:rPr>
              <a:t>Aayush Anand, M.B Sai Charan (Sci-C), A.Kalidasu (Sci-E)</a:t>
            </a:r>
          </a:p>
          <a:p>
            <a:pPr algn="ctr"/>
            <a:r>
              <a:rPr lang="en-US" sz="2800" b="1" dirty="0">
                <a:solidFill>
                  <a:schemeClr val="tx1"/>
                </a:solidFill>
              </a:rPr>
              <a:t>Directorate of Artificial Intelligence &amp; Visualization</a:t>
            </a:r>
            <a:endParaRPr lang="en-IN" sz="2800" b="1" dirty="0">
              <a:solidFill>
                <a:schemeClr val="tx1"/>
              </a:solidFill>
            </a:endParaRPr>
          </a:p>
        </p:txBody>
      </p:sp>
      <p:pic>
        <p:nvPicPr>
          <p:cNvPr id="1026" name="Picture 2" descr="Research Centre Imarat (RCI)•DRDO | LinkedIn">
            <a:extLst>
              <a:ext uri="{FF2B5EF4-FFF2-40B4-BE49-F238E27FC236}">
                <a16:creationId xmlns:a16="http://schemas.microsoft.com/office/drawing/2014/main" id="{C6ED152C-4F85-4E08-BF0B-BA0D4CDDB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913" y="705073"/>
            <a:ext cx="2305050" cy="23050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FENCE INSTITUTE OF ADVANCED TECHNOLOGY">
            <a:extLst>
              <a:ext uri="{FF2B5EF4-FFF2-40B4-BE49-F238E27FC236}">
                <a16:creationId xmlns:a16="http://schemas.microsoft.com/office/drawing/2014/main" id="{5D7604C1-1F5D-48E0-AAF8-A2246E6F42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20639" y="731198"/>
            <a:ext cx="2305051" cy="225427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3E53B97-32A3-412F-B15C-57F24C485F20}"/>
              </a:ext>
            </a:extLst>
          </p:cNvPr>
          <p:cNvSpPr/>
          <p:nvPr/>
        </p:nvSpPr>
        <p:spPr>
          <a:xfrm>
            <a:off x="-7248242" y="3400972"/>
            <a:ext cx="6319810" cy="61601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tx1"/>
              </a:solidFill>
            </a:endParaRPr>
          </a:p>
          <a:p>
            <a:pPr algn="just"/>
            <a:r>
              <a:rPr lang="en-US" sz="2800" dirty="0">
                <a:solidFill>
                  <a:schemeClr val="tx1"/>
                </a:solidFill>
              </a:rPr>
              <a:t>Software Quality Assurance Group (SQAG) under DRDO reviews a large number of technical documents such as SRS, SDD, ICD, and test plans.</a:t>
            </a:r>
            <a:br>
              <a:rPr lang="en-US" sz="2800" dirty="0">
                <a:solidFill>
                  <a:schemeClr val="tx1"/>
                </a:solidFill>
              </a:rPr>
            </a:br>
            <a:r>
              <a:rPr lang="en-US" sz="2800" dirty="0">
                <a:solidFill>
                  <a:schemeClr val="tx1"/>
                </a:solidFill>
              </a:rPr>
              <a:t>Many incoming documents suffer from incorrect templates, missing sections, irrelevant content, and unclear diagrams, making manual review slow and inconsistent.</a:t>
            </a:r>
          </a:p>
          <a:p>
            <a:pPr algn="just"/>
            <a:r>
              <a:rPr lang="en-US" sz="2800" dirty="0">
                <a:solidFill>
                  <a:schemeClr val="tx1"/>
                </a:solidFill>
              </a:rPr>
              <a:t>This project proposes an AI-assisted initial screening and verification system to reduce reviewer burden and improve standardization.</a:t>
            </a:r>
            <a:endParaRPr lang="en-IN" sz="3600" b="1" dirty="0">
              <a:solidFill>
                <a:schemeClr val="tx1"/>
              </a:solidFill>
            </a:endParaRPr>
          </a:p>
        </p:txBody>
      </p:sp>
      <p:sp>
        <p:nvSpPr>
          <p:cNvPr id="7" name="Rectangle 6">
            <a:extLst>
              <a:ext uri="{FF2B5EF4-FFF2-40B4-BE49-F238E27FC236}">
                <a16:creationId xmlns:a16="http://schemas.microsoft.com/office/drawing/2014/main" id="{EB37837D-2FE1-47ED-80E3-731C2A73CE50}"/>
              </a:ext>
            </a:extLst>
          </p:cNvPr>
          <p:cNvSpPr/>
          <p:nvPr/>
        </p:nvSpPr>
        <p:spPr>
          <a:xfrm>
            <a:off x="22721527" y="3400972"/>
            <a:ext cx="7004304" cy="616012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b="1" dirty="0">
                <a:solidFill>
                  <a:schemeClr val="tx1"/>
                </a:solidFill>
              </a:rPr>
              <a:t>Problem Statement</a:t>
            </a:r>
          </a:p>
          <a:p>
            <a:pPr algn="ctr"/>
            <a:endParaRPr lang="en-US" sz="1000" b="1" dirty="0">
              <a:solidFill>
                <a:schemeClr val="tx1"/>
              </a:solidFill>
            </a:endParaRPr>
          </a:p>
          <a:p>
            <a:pPr algn="just"/>
            <a:r>
              <a:rPr lang="en-US" sz="2800" dirty="0">
                <a:solidFill>
                  <a:schemeClr val="tx1"/>
                </a:solidFill>
              </a:rPr>
              <a:t>M</a:t>
            </a:r>
            <a:r>
              <a:rPr lang="en-US" sz="2800" dirty="0"/>
              <a:t>anual verification of Software Requirement Specification (SRS) documents within SQAG is time-consuming due to inconsistent formats, non-standard terminology, and structural variations. Many submissions contain missing or poorly defined sections that do not follow prescribed templates, complicating systematic review. Embedded images and vector diagrams are not machine-readable and often lack descriptive context which increasing reviewer workload. These issues result in longer review cycles and reduced verification efficiency.</a:t>
            </a:r>
            <a:endParaRPr lang="en-US" sz="2800" b="1" dirty="0">
              <a:solidFill>
                <a:schemeClr val="tx1"/>
              </a:solidFill>
            </a:endParaRPr>
          </a:p>
        </p:txBody>
      </p:sp>
      <p:sp>
        <p:nvSpPr>
          <p:cNvPr id="8" name="Rectangle 7">
            <a:extLst>
              <a:ext uri="{FF2B5EF4-FFF2-40B4-BE49-F238E27FC236}">
                <a16:creationId xmlns:a16="http://schemas.microsoft.com/office/drawing/2014/main" id="{75E8A91D-2961-4563-B284-3266743D1485}"/>
              </a:ext>
            </a:extLst>
          </p:cNvPr>
          <p:cNvSpPr/>
          <p:nvPr/>
        </p:nvSpPr>
        <p:spPr>
          <a:xfrm>
            <a:off x="22584097" y="6421262"/>
            <a:ext cx="6319811" cy="616012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b="1" dirty="0">
                <a:solidFill>
                  <a:schemeClr val="tx1"/>
                </a:solidFill>
              </a:rPr>
              <a:t>Objective</a:t>
            </a:r>
          </a:p>
          <a:p>
            <a:pPr algn="ctr"/>
            <a:endParaRPr lang="en-IN" sz="1000" b="1" dirty="0">
              <a:solidFill>
                <a:schemeClr val="tx1"/>
              </a:solidFill>
            </a:endParaRPr>
          </a:p>
          <a:p>
            <a:pPr marL="457200" indent="-457200" algn="just">
              <a:buFont typeface="Arial" panose="020B0604020202020204" pitchFamily="34" charset="0"/>
              <a:buChar char="•"/>
            </a:pPr>
            <a:r>
              <a:rPr lang="en-IN" sz="2800" dirty="0">
                <a:solidFill>
                  <a:schemeClr val="tx1"/>
                </a:solidFill>
              </a:rPr>
              <a:t>Develop an LLM-based web application for SRS verification</a:t>
            </a:r>
          </a:p>
          <a:p>
            <a:pPr marL="457200" indent="-457200" algn="just">
              <a:buFont typeface="Arial" panose="020B0604020202020204" pitchFamily="34" charset="0"/>
              <a:buChar char="•"/>
            </a:pPr>
            <a:r>
              <a:rPr lang="en-IN" sz="2800" dirty="0">
                <a:solidFill>
                  <a:schemeClr val="tx1"/>
                </a:solidFill>
              </a:rPr>
              <a:t>Build a modular AI pipeline with independent components</a:t>
            </a:r>
          </a:p>
          <a:p>
            <a:pPr marL="457200" indent="-457200" algn="just">
              <a:buFont typeface="Arial" panose="020B0604020202020204" pitchFamily="34" charset="0"/>
              <a:buChar char="•"/>
            </a:pPr>
            <a:r>
              <a:rPr lang="en-IN" sz="2800" dirty="0">
                <a:solidFill>
                  <a:schemeClr val="tx1"/>
                </a:solidFill>
              </a:rPr>
              <a:t>Automate PDF pre-processing and image understanding</a:t>
            </a:r>
          </a:p>
          <a:p>
            <a:pPr marL="457200" indent="-457200" algn="just">
              <a:buFont typeface="Arial" panose="020B0604020202020204" pitchFamily="34" charset="0"/>
              <a:buChar char="•"/>
            </a:pPr>
            <a:r>
              <a:rPr lang="en-IN" sz="2800" dirty="0">
                <a:solidFill>
                  <a:schemeClr val="tx1"/>
                </a:solidFill>
              </a:rPr>
              <a:t>Perform semantic section mapping to SQAG templates</a:t>
            </a:r>
          </a:p>
          <a:p>
            <a:pPr marL="457200" indent="-457200" algn="just">
              <a:buFont typeface="Arial" panose="020B0604020202020204" pitchFamily="34" charset="0"/>
              <a:buChar char="•"/>
            </a:pPr>
            <a:r>
              <a:rPr lang="en-IN" sz="2800" dirty="0">
                <a:solidFill>
                  <a:schemeClr val="tx1"/>
                </a:solidFill>
              </a:rPr>
              <a:t>Enable prompt-driven compliance checking.</a:t>
            </a:r>
          </a:p>
          <a:p>
            <a:pPr marL="457200" indent="-457200" algn="just">
              <a:buFont typeface="Arial" panose="020B0604020202020204" pitchFamily="34" charset="0"/>
              <a:buChar char="•"/>
            </a:pPr>
            <a:r>
              <a:rPr lang="en-IN" sz="2800" dirty="0">
                <a:solidFill>
                  <a:schemeClr val="tx1"/>
                </a:solidFill>
              </a:rPr>
              <a:t>Provide a Streamlit dashboard with scoring, feedback and reports.</a:t>
            </a:r>
          </a:p>
        </p:txBody>
      </p:sp>
      <p:sp>
        <p:nvSpPr>
          <p:cNvPr id="12" name="Rectangle 11">
            <a:extLst>
              <a:ext uri="{FF2B5EF4-FFF2-40B4-BE49-F238E27FC236}">
                <a16:creationId xmlns:a16="http://schemas.microsoft.com/office/drawing/2014/main" id="{973A99A8-6737-4966-BEB9-7B8287BFB2B2}"/>
              </a:ext>
            </a:extLst>
          </p:cNvPr>
          <p:cNvSpPr/>
          <p:nvPr/>
        </p:nvSpPr>
        <p:spPr>
          <a:xfrm>
            <a:off x="603504" y="9043123"/>
            <a:ext cx="20098513" cy="657675"/>
          </a:xfrm>
          <a:prstGeom prst="rect">
            <a:avLst/>
          </a:prstGeom>
          <a:solidFill>
            <a:schemeClr val="accent1">
              <a:lumMod val="60000"/>
              <a:lumOff val="4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b="1" dirty="0"/>
              <a:t>System Architecture</a:t>
            </a:r>
            <a:endParaRPr lang="en-IN" b="1" dirty="0"/>
          </a:p>
        </p:txBody>
      </p:sp>
      <p:sp>
        <p:nvSpPr>
          <p:cNvPr id="13" name="Rectangle 12">
            <a:extLst>
              <a:ext uri="{FF2B5EF4-FFF2-40B4-BE49-F238E27FC236}">
                <a16:creationId xmlns:a16="http://schemas.microsoft.com/office/drawing/2014/main" id="{9203FFD6-0476-4903-95C1-BA7F0DEE31EC}"/>
              </a:ext>
            </a:extLst>
          </p:cNvPr>
          <p:cNvSpPr/>
          <p:nvPr/>
        </p:nvSpPr>
        <p:spPr>
          <a:xfrm>
            <a:off x="609599" y="19442121"/>
            <a:ext cx="7682779" cy="2674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rPr>
              <a:t>Phase I: Data Ingestion &amp; Enrichment</a:t>
            </a:r>
          </a:p>
          <a:p>
            <a:endParaRPr lang="en-IN" sz="1100" b="1" dirty="0">
              <a:solidFill>
                <a:schemeClr val="tx1"/>
              </a:solidFill>
            </a:endParaRPr>
          </a:p>
          <a:p>
            <a:pPr marL="457200" indent="-457200">
              <a:buFont typeface="Arial" panose="020B0604020202020204" pitchFamily="34" charset="0"/>
              <a:buChar char="•"/>
            </a:pPr>
            <a:r>
              <a:rPr lang="en-IN" sz="2800" dirty="0">
                <a:solidFill>
                  <a:schemeClr val="tx1"/>
                </a:solidFill>
              </a:rPr>
              <a:t>PDF pre-processing (header/footer removal)</a:t>
            </a:r>
          </a:p>
          <a:p>
            <a:pPr marL="457200" indent="-457200">
              <a:buFont typeface="Arial" panose="020B0604020202020204" pitchFamily="34" charset="0"/>
              <a:buChar char="•"/>
            </a:pPr>
            <a:r>
              <a:rPr lang="en-IN" sz="2800" dirty="0">
                <a:solidFill>
                  <a:schemeClr val="tx1"/>
                </a:solidFill>
              </a:rPr>
              <a:t>PDF → Markdown conversion using Docling</a:t>
            </a:r>
          </a:p>
          <a:p>
            <a:pPr marL="457200" indent="-457200">
              <a:buFont typeface="Arial" panose="020B0604020202020204" pitchFamily="34" charset="0"/>
              <a:buChar char="•"/>
            </a:pPr>
            <a:r>
              <a:rPr lang="en-IN" sz="2800" dirty="0">
                <a:solidFill>
                  <a:schemeClr val="tx1"/>
                </a:solidFill>
              </a:rPr>
              <a:t>Image extraction and captioning using Gemma 3 (4B)</a:t>
            </a:r>
          </a:p>
          <a:p>
            <a:pPr marL="457200" indent="-457200">
              <a:buFont typeface="Arial" panose="020B0604020202020204" pitchFamily="34" charset="0"/>
              <a:buChar char="•"/>
            </a:pPr>
            <a:r>
              <a:rPr lang="en-IN" sz="2800" dirty="0">
                <a:solidFill>
                  <a:schemeClr val="tx1"/>
                </a:solidFill>
              </a:rPr>
              <a:t>Reintegration of captions into Markdown</a:t>
            </a:r>
          </a:p>
        </p:txBody>
      </p:sp>
      <p:sp>
        <p:nvSpPr>
          <p:cNvPr id="14" name="Rectangle 13">
            <a:extLst>
              <a:ext uri="{FF2B5EF4-FFF2-40B4-BE49-F238E27FC236}">
                <a16:creationId xmlns:a16="http://schemas.microsoft.com/office/drawing/2014/main" id="{3541188D-6998-44DB-913A-92217AACDFD7}"/>
              </a:ext>
            </a:extLst>
          </p:cNvPr>
          <p:cNvSpPr/>
          <p:nvPr/>
        </p:nvSpPr>
        <p:spPr>
          <a:xfrm>
            <a:off x="533401" y="22326601"/>
            <a:ext cx="7917872" cy="4692650"/>
          </a:xfrm>
          <a:prstGeom prst="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b="1" dirty="0"/>
              <a:t>RESULTS &amp; EVALUATION</a:t>
            </a:r>
          </a:p>
          <a:p>
            <a:pPr algn="ctr"/>
            <a:endParaRPr lang="en-US" sz="1000" b="1" dirty="0"/>
          </a:p>
          <a:p>
            <a:pPr algn="ctr"/>
            <a:endParaRPr lang="en-US" sz="2800" b="1" dirty="0"/>
          </a:p>
        </p:txBody>
      </p:sp>
      <p:sp>
        <p:nvSpPr>
          <p:cNvPr id="17" name="Rectangle 16">
            <a:extLst>
              <a:ext uri="{FF2B5EF4-FFF2-40B4-BE49-F238E27FC236}">
                <a16:creationId xmlns:a16="http://schemas.microsoft.com/office/drawing/2014/main" id="{C76BF7D0-7107-4F0B-9728-49E9014D5018}"/>
              </a:ext>
            </a:extLst>
          </p:cNvPr>
          <p:cNvSpPr/>
          <p:nvPr/>
        </p:nvSpPr>
        <p:spPr>
          <a:xfrm>
            <a:off x="23799800" y="23799800"/>
            <a:ext cx="5461000" cy="3184066"/>
          </a:xfrm>
          <a:prstGeom prst="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4000" b="1" dirty="0"/>
              <a:t>CHALLENGES</a:t>
            </a:r>
          </a:p>
          <a:p>
            <a:pPr algn="ctr"/>
            <a:endParaRPr lang="en-IN" sz="1000" b="1" dirty="0"/>
          </a:p>
          <a:p>
            <a:pPr marL="285750" indent="-285750">
              <a:buFont typeface="Arial" panose="020B0604020202020204" pitchFamily="34" charset="0"/>
              <a:buChar char="•"/>
            </a:pPr>
            <a:r>
              <a:rPr lang="en-IN" sz="2800" dirty="0"/>
              <a:t>Irregular SRS templates</a:t>
            </a:r>
          </a:p>
          <a:p>
            <a:pPr marL="285750" indent="-285750">
              <a:buFont typeface="Arial" panose="020B0604020202020204" pitchFamily="34" charset="0"/>
              <a:buChar char="•"/>
            </a:pPr>
            <a:r>
              <a:rPr lang="en-IN" sz="2800" dirty="0"/>
              <a:t>Complex diagrams and multi-part figures</a:t>
            </a:r>
          </a:p>
          <a:p>
            <a:pPr marL="285750" indent="-285750">
              <a:buFont typeface="Arial" panose="020B0604020202020204" pitchFamily="34" charset="0"/>
              <a:buChar char="•"/>
            </a:pPr>
            <a:r>
              <a:rPr lang="en-IN" sz="2800" dirty="0"/>
              <a:t>Semantic variation in section names</a:t>
            </a:r>
          </a:p>
          <a:p>
            <a:pPr marL="285750" indent="-285750">
              <a:buFont typeface="Arial" panose="020B0604020202020204" pitchFamily="34" charset="0"/>
              <a:buChar char="•"/>
            </a:pPr>
            <a:r>
              <a:rPr lang="en-IN" sz="2800" dirty="0"/>
              <a:t>LLM prompt sensitivity</a:t>
            </a:r>
          </a:p>
          <a:p>
            <a:pPr marL="285750" indent="-285750">
              <a:buFont typeface="Arial" panose="020B0604020202020204" pitchFamily="34" charset="0"/>
              <a:buChar char="•"/>
            </a:pPr>
            <a:r>
              <a:rPr lang="en-IN" sz="2800" dirty="0"/>
              <a:t>Preventing hallucination and ensuring grounding</a:t>
            </a:r>
          </a:p>
        </p:txBody>
      </p:sp>
      <p:sp>
        <p:nvSpPr>
          <p:cNvPr id="18" name="Rectangle 17">
            <a:extLst>
              <a:ext uri="{FF2B5EF4-FFF2-40B4-BE49-F238E27FC236}">
                <a16:creationId xmlns:a16="http://schemas.microsoft.com/office/drawing/2014/main" id="{038633E2-46E0-4EA0-8072-B2A526A7D652}"/>
              </a:ext>
            </a:extLst>
          </p:cNvPr>
          <p:cNvSpPr/>
          <p:nvPr/>
        </p:nvSpPr>
        <p:spPr>
          <a:xfrm>
            <a:off x="622554" y="27228798"/>
            <a:ext cx="12077446" cy="2527301"/>
          </a:xfrm>
          <a:prstGeom prst="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4000" b="1" dirty="0"/>
              <a:t>CONCLUSION</a:t>
            </a:r>
          </a:p>
          <a:p>
            <a:pPr algn="ctr"/>
            <a:endParaRPr lang="en-IN" sz="1000" b="1" dirty="0"/>
          </a:p>
          <a:p>
            <a:pPr algn="just"/>
            <a:r>
              <a:rPr lang="en-US" sz="2800" dirty="0"/>
              <a:t>The project presents an LLM-based system for SRS verification that reduces manual review effort and enables structured, explainable compliance evaluation. It demonstrates the effective use of multimodal LLMs and modular AI pipelines for intelligent document processing in defense workflows..</a:t>
            </a:r>
            <a:endParaRPr lang="en-IN" sz="2800" b="1" dirty="0"/>
          </a:p>
        </p:txBody>
      </p:sp>
      <p:sp>
        <p:nvSpPr>
          <p:cNvPr id="21" name="Rectangle 20">
            <a:extLst>
              <a:ext uri="{FF2B5EF4-FFF2-40B4-BE49-F238E27FC236}">
                <a16:creationId xmlns:a16="http://schemas.microsoft.com/office/drawing/2014/main" id="{B8ECE1BF-CB57-4102-810E-01086160E1ED}"/>
              </a:ext>
            </a:extLst>
          </p:cNvPr>
          <p:cNvSpPr/>
          <p:nvPr/>
        </p:nvSpPr>
        <p:spPr>
          <a:xfrm>
            <a:off x="13131800" y="27228800"/>
            <a:ext cx="7586808" cy="2527300"/>
          </a:xfrm>
          <a:prstGeom prst="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4000" b="1" dirty="0"/>
              <a:t>FUTURE SCOPE</a:t>
            </a:r>
          </a:p>
          <a:p>
            <a:pPr algn="ctr"/>
            <a:endParaRPr lang="en-IN" sz="1000" b="1" dirty="0"/>
          </a:p>
          <a:p>
            <a:pPr algn="ctr"/>
            <a:endParaRPr lang="en-IN" sz="1000" b="1" dirty="0"/>
          </a:p>
          <a:p>
            <a:pPr marL="285750" indent="-285750" algn="just">
              <a:buFont typeface="Arial" panose="020B0604020202020204" pitchFamily="34" charset="0"/>
              <a:buChar char="•"/>
            </a:pPr>
            <a:r>
              <a:rPr lang="en-IN" sz="2800" dirty="0"/>
              <a:t>Support for SDD, ICD, STR documents</a:t>
            </a:r>
          </a:p>
          <a:p>
            <a:pPr marL="285750" indent="-285750" algn="just">
              <a:buFont typeface="Arial" panose="020B0604020202020204" pitchFamily="34" charset="0"/>
              <a:buChar char="•"/>
            </a:pPr>
            <a:r>
              <a:rPr lang="en-IN" sz="2800" dirty="0"/>
              <a:t>Automatic template detection User authentication &amp; access control</a:t>
            </a:r>
          </a:p>
          <a:p>
            <a:pPr marL="285750" indent="-285750" algn="just">
              <a:buFont typeface="Arial" panose="020B0604020202020204" pitchFamily="34" charset="0"/>
              <a:buChar char="•"/>
            </a:pPr>
            <a:r>
              <a:rPr lang="en-IN" sz="2800" dirty="0"/>
              <a:t>Improved UI/UX and feedback-driven learning</a:t>
            </a:r>
          </a:p>
        </p:txBody>
      </p:sp>
      <p:sp>
        <p:nvSpPr>
          <p:cNvPr id="23" name="Rectangle 22">
            <a:extLst>
              <a:ext uri="{FF2B5EF4-FFF2-40B4-BE49-F238E27FC236}">
                <a16:creationId xmlns:a16="http://schemas.microsoft.com/office/drawing/2014/main" id="{ACD10298-C7D1-414E-8879-89EE737DE395}"/>
              </a:ext>
            </a:extLst>
          </p:cNvPr>
          <p:cNvSpPr/>
          <p:nvPr/>
        </p:nvSpPr>
        <p:spPr>
          <a:xfrm>
            <a:off x="8451273" y="19405600"/>
            <a:ext cx="6273309" cy="271145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rPr>
              <a:t>Phase II: Structural Standardization</a:t>
            </a:r>
          </a:p>
          <a:p>
            <a:endParaRPr lang="en-IN" sz="1000" b="1" dirty="0">
              <a:solidFill>
                <a:schemeClr val="tx1"/>
              </a:solidFill>
            </a:endParaRPr>
          </a:p>
          <a:p>
            <a:pPr marL="457200" indent="-457200">
              <a:buFont typeface="Arial" panose="020B0604020202020204" pitchFamily="34" charset="0"/>
              <a:buChar char="•"/>
            </a:pPr>
            <a:r>
              <a:rPr lang="en-IN" sz="2800" dirty="0">
                <a:solidFill>
                  <a:schemeClr val="tx1"/>
                </a:solidFill>
              </a:rPr>
              <a:t>Heading &amp; content extraction</a:t>
            </a:r>
          </a:p>
          <a:p>
            <a:pPr marL="457200" indent="-457200">
              <a:buFont typeface="Arial" panose="020B0604020202020204" pitchFamily="34" charset="0"/>
              <a:buChar char="•"/>
            </a:pPr>
            <a:r>
              <a:rPr lang="en-IN" sz="2800" dirty="0">
                <a:solidFill>
                  <a:schemeClr val="tx1"/>
                </a:solidFill>
              </a:rPr>
              <a:t>Semantic section mapping using:</a:t>
            </a:r>
          </a:p>
          <a:p>
            <a:pPr marL="914400" lvl="1" indent="-457200">
              <a:buFont typeface="Arial" panose="020B0604020202020204" pitchFamily="34" charset="0"/>
              <a:buChar char="•"/>
            </a:pPr>
            <a:r>
              <a:rPr lang="en-IN" sz="2800" dirty="0">
                <a:solidFill>
                  <a:schemeClr val="tx1"/>
                </a:solidFill>
              </a:rPr>
              <a:t>SentenceTransformer embeddings</a:t>
            </a:r>
          </a:p>
          <a:p>
            <a:pPr marL="914400" lvl="1" indent="-457200">
              <a:buFont typeface="Arial" panose="020B0604020202020204" pitchFamily="34" charset="0"/>
              <a:buChar char="•"/>
            </a:pPr>
            <a:r>
              <a:rPr lang="en-IN" sz="2800" dirty="0">
                <a:solidFill>
                  <a:schemeClr val="tx1"/>
                </a:solidFill>
              </a:rPr>
              <a:t>Fuzzy matching &amp; Regex refinement</a:t>
            </a:r>
          </a:p>
          <a:p>
            <a:pPr marL="457200" indent="-457200">
              <a:buFont typeface="Arial" panose="020B0604020202020204" pitchFamily="34" charset="0"/>
              <a:buChar char="•"/>
            </a:pPr>
            <a:r>
              <a:rPr lang="en-IN" sz="2800" dirty="0">
                <a:solidFill>
                  <a:schemeClr val="tx1"/>
                </a:solidFill>
              </a:rPr>
              <a:t>Normalized JSON document structure</a:t>
            </a:r>
          </a:p>
        </p:txBody>
      </p:sp>
      <p:sp>
        <p:nvSpPr>
          <p:cNvPr id="24" name="Rectangle 23">
            <a:extLst>
              <a:ext uri="{FF2B5EF4-FFF2-40B4-BE49-F238E27FC236}">
                <a16:creationId xmlns:a16="http://schemas.microsoft.com/office/drawing/2014/main" id="{0BE7FC5A-51F9-4DEF-AA97-6CDB6FF81283}"/>
              </a:ext>
            </a:extLst>
          </p:cNvPr>
          <p:cNvSpPr/>
          <p:nvPr/>
        </p:nvSpPr>
        <p:spPr>
          <a:xfrm>
            <a:off x="14817346" y="19405600"/>
            <a:ext cx="5824109" cy="46926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800" dirty="0">
              <a:solidFill>
                <a:schemeClr val="tx1"/>
              </a:solidFill>
            </a:endParaRPr>
          </a:p>
          <a:p>
            <a:pPr algn="ctr"/>
            <a:r>
              <a:rPr lang="en-IN" sz="3200" b="1" dirty="0">
                <a:solidFill>
                  <a:schemeClr val="tx1"/>
                </a:solidFill>
              </a:rPr>
              <a:t>Phase III: Automated Logic Verification</a:t>
            </a:r>
          </a:p>
          <a:p>
            <a:endParaRPr lang="en-IN" sz="1000" b="1" dirty="0">
              <a:solidFill>
                <a:schemeClr val="tx1"/>
              </a:solidFill>
            </a:endParaRPr>
          </a:p>
          <a:p>
            <a:pPr marL="457200" indent="-457200">
              <a:buFont typeface="Arial" panose="020B0604020202020204" pitchFamily="34" charset="0"/>
              <a:buChar char="•"/>
            </a:pPr>
            <a:r>
              <a:rPr lang="en-IN" sz="2800" dirty="0">
                <a:solidFill>
                  <a:schemeClr val="tx1"/>
                </a:solidFill>
              </a:rPr>
              <a:t>Checklist question–section mapping</a:t>
            </a:r>
          </a:p>
          <a:p>
            <a:pPr marL="457200" indent="-457200">
              <a:buFont typeface="Arial" panose="020B0604020202020204" pitchFamily="34" charset="0"/>
              <a:buChar char="•"/>
            </a:pPr>
            <a:r>
              <a:rPr lang="en-IN" sz="2800" dirty="0">
                <a:solidFill>
                  <a:schemeClr val="tx1"/>
                </a:solidFill>
              </a:rPr>
              <a:t>Dynamic prompt-driven LLM evaluation</a:t>
            </a:r>
          </a:p>
          <a:p>
            <a:pPr marL="457200" indent="-457200">
              <a:buFont typeface="Arial" panose="020B0604020202020204" pitchFamily="34" charset="0"/>
              <a:buChar char="•"/>
            </a:pPr>
            <a:r>
              <a:rPr lang="en-IN" sz="2800" dirty="0">
                <a:solidFill>
                  <a:schemeClr val="tx1"/>
                </a:solidFill>
              </a:rPr>
              <a:t>GLM-4 generates:</a:t>
            </a:r>
          </a:p>
          <a:p>
            <a:pPr marL="914400" lvl="1" indent="-457200">
              <a:buFont typeface="Arial" panose="020B0604020202020204" pitchFamily="34" charset="0"/>
              <a:buChar char="•"/>
            </a:pPr>
            <a:r>
              <a:rPr lang="en-IN" sz="2800" dirty="0">
                <a:solidFill>
                  <a:schemeClr val="tx1"/>
                </a:solidFill>
              </a:rPr>
              <a:t>Yes/No verdict</a:t>
            </a:r>
          </a:p>
          <a:p>
            <a:pPr marL="914400" lvl="1" indent="-457200">
              <a:buFont typeface="Arial" panose="020B0604020202020204" pitchFamily="34" charset="0"/>
              <a:buChar char="•"/>
            </a:pPr>
            <a:r>
              <a:rPr lang="en-IN" sz="2800" dirty="0">
                <a:solidFill>
                  <a:schemeClr val="tx1"/>
                </a:solidFill>
              </a:rPr>
              <a:t>Concise rationale</a:t>
            </a:r>
          </a:p>
          <a:p>
            <a:pPr marL="457200" indent="-457200">
              <a:buFont typeface="Arial" panose="020B0604020202020204" pitchFamily="34" charset="0"/>
              <a:buChar char="•"/>
            </a:pPr>
            <a:r>
              <a:rPr lang="en-IN" sz="2800" dirty="0">
                <a:solidFill>
                  <a:schemeClr val="tx1"/>
                </a:solidFill>
              </a:rPr>
              <a:t>Structured JSON output for scoring</a:t>
            </a:r>
          </a:p>
        </p:txBody>
      </p:sp>
      <p:sp>
        <p:nvSpPr>
          <p:cNvPr id="2" name="Rectangle 1">
            <a:extLst>
              <a:ext uri="{FF2B5EF4-FFF2-40B4-BE49-F238E27FC236}">
                <a16:creationId xmlns:a16="http://schemas.microsoft.com/office/drawing/2014/main" id="{373DCBC3-703C-F849-864C-24058A694AE2}"/>
              </a:ext>
            </a:extLst>
          </p:cNvPr>
          <p:cNvSpPr/>
          <p:nvPr/>
        </p:nvSpPr>
        <p:spPr>
          <a:xfrm>
            <a:off x="681608" y="3400972"/>
            <a:ext cx="6263476" cy="8163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rPr>
              <a:t>Overview</a:t>
            </a:r>
          </a:p>
        </p:txBody>
      </p:sp>
      <p:sp>
        <p:nvSpPr>
          <p:cNvPr id="3" name="Rectangle 2">
            <a:extLst>
              <a:ext uri="{FF2B5EF4-FFF2-40B4-BE49-F238E27FC236}">
                <a16:creationId xmlns:a16="http://schemas.microsoft.com/office/drawing/2014/main" id="{70772449-3873-9CC6-5B82-490C3EA961EA}"/>
              </a:ext>
            </a:extLst>
          </p:cNvPr>
          <p:cNvSpPr/>
          <p:nvPr/>
        </p:nvSpPr>
        <p:spPr>
          <a:xfrm>
            <a:off x="665018" y="4217321"/>
            <a:ext cx="6280066" cy="45056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2800" dirty="0">
                <a:solidFill>
                  <a:schemeClr val="tx1"/>
                </a:solidFill>
              </a:rPr>
              <a:t>The Software Quality Assurance Group (SQAG) under DRDO reviews multiple technical documents such as SRS, SDD, and ICD. Many submissions suffer from incorrect templates, missing sections, and unclear diagrams, making manual review slow and inconsistent. This project proposes an AI-assisted initial screening system to reduce reviewer burden and improve standardization.</a:t>
            </a:r>
            <a:endParaRPr kumimoji="0" lang="en-IN" sz="8800" b="1"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83241ECE-C708-C204-17CF-D141E00F292A}"/>
              </a:ext>
            </a:extLst>
          </p:cNvPr>
          <p:cNvSpPr/>
          <p:nvPr/>
        </p:nvSpPr>
        <p:spPr>
          <a:xfrm>
            <a:off x="7260931" y="4239091"/>
            <a:ext cx="6498228" cy="45056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800" dirty="0">
                <a:solidFill>
                  <a:schemeClr val="tx1"/>
                </a:solidFill>
              </a:rPr>
              <a:t>Manual verification of SRS documents within SQAG is time-consuming due to inconsistent formats, non-standard terminology, and missing or poorly structured sections. </a:t>
            </a:r>
          </a:p>
          <a:p>
            <a:pPr algn="just"/>
            <a:r>
              <a:rPr lang="en-US" sz="2800" dirty="0">
                <a:solidFill>
                  <a:schemeClr val="tx1"/>
                </a:solidFill>
              </a:rPr>
              <a:t>Additionally, embedded images and vector diagrams are not machine-readable, increasing reviewer workload and leading to longer review cycles and reduced verification efficiency.</a:t>
            </a:r>
            <a:endParaRPr lang="en-US" sz="2800" b="1" dirty="0">
              <a:solidFill>
                <a:schemeClr val="tx1"/>
              </a:solidFill>
            </a:endParaRPr>
          </a:p>
        </p:txBody>
      </p:sp>
      <p:pic>
        <p:nvPicPr>
          <p:cNvPr id="11" name="Image2">
            <a:extLst>
              <a:ext uri="{FF2B5EF4-FFF2-40B4-BE49-F238E27FC236}">
                <a16:creationId xmlns:a16="http://schemas.microsoft.com/office/drawing/2014/main" id="{ACC5D2CD-3BCE-D16E-5784-F79DDF30DAD6}"/>
              </a:ext>
            </a:extLst>
          </p:cNvPr>
          <p:cNvPicPr/>
          <p:nvPr/>
        </p:nvPicPr>
        <p:blipFill>
          <a:blip r:embed="rId4">
            <a:lum/>
            <a:alphaModFix/>
          </a:blip>
          <a:srcRect/>
          <a:stretch>
            <a:fillRect/>
          </a:stretch>
        </p:blipFill>
        <p:spPr>
          <a:xfrm>
            <a:off x="8610167" y="22400740"/>
            <a:ext cx="6114415" cy="4648200"/>
          </a:xfrm>
          <a:prstGeom prst="rect">
            <a:avLst/>
          </a:prstGeom>
          <a:noFill/>
        </p:spPr>
      </p:pic>
      <p:sp>
        <p:nvSpPr>
          <p:cNvPr id="22" name="Rectangle 21">
            <a:extLst>
              <a:ext uri="{FF2B5EF4-FFF2-40B4-BE49-F238E27FC236}">
                <a16:creationId xmlns:a16="http://schemas.microsoft.com/office/drawing/2014/main" id="{0153D9A4-72E4-4F43-A46F-B5AD97816277}"/>
              </a:ext>
            </a:extLst>
          </p:cNvPr>
          <p:cNvSpPr/>
          <p:nvPr/>
        </p:nvSpPr>
        <p:spPr>
          <a:xfrm>
            <a:off x="14092646" y="3412026"/>
            <a:ext cx="6609371" cy="7451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4000" b="1" dirty="0">
                <a:solidFill>
                  <a:prstClr val="black"/>
                </a:solidFill>
                <a:latin typeface="Calibri" panose="020F0502020204030204"/>
              </a:rPr>
              <a:t>Objectives</a:t>
            </a:r>
            <a:endPar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ED1A2EAA-52AE-472D-AE9D-5E8696B50C56}"/>
              </a:ext>
            </a:extLst>
          </p:cNvPr>
          <p:cNvSpPr/>
          <p:nvPr/>
        </p:nvSpPr>
        <p:spPr>
          <a:xfrm>
            <a:off x="14071188" y="4234253"/>
            <a:ext cx="6647420" cy="45710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just">
              <a:buFont typeface="Arial" panose="020B0604020202020204" pitchFamily="34" charset="0"/>
              <a:buChar char="•"/>
            </a:pPr>
            <a:r>
              <a:rPr lang="en-IN" sz="2800" dirty="0">
                <a:solidFill>
                  <a:schemeClr val="tx1"/>
                </a:solidFill>
              </a:rPr>
              <a:t>Develop an LLM-based web application for SRS verification</a:t>
            </a:r>
          </a:p>
          <a:p>
            <a:pPr marL="457200" indent="-457200" algn="just">
              <a:buFont typeface="Arial" panose="020B0604020202020204" pitchFamily="34" charset="0"/>
              <a:buChar char="•"/>
            </a:pPr>
            <a:r>
              <a:rPr lang="en-IN" sz="2800" dirty="0">
                <a:solidFill>
                  <a:schemeClr val="tx1"/>
                </a:solidFill>
              </a:rPr>
              <a:t>Design a modular Document AI pipeline.</a:t>
            </a:r>
          </a:p>
          <a:p>
            <a:pPr marL="457200" indent="-457200" algn="just">
              <a:buFont typeface="Arial" panose="020B0604020202020204" pitchFamily="34" charset="0"/>
              <a:buChar char="•"/>
            </a:pPr>
            <a:r>
              <a:rPr lang="en-IN" sz="2800" dirty="0">
                <a:solidFill>
                  <a:schemeClr val="tx1"/>
                </a:solidFill>
              </a:rPr>
              <a:t>Automate PDF pre-processing and image interpretation</a:t>
            </a:r>
          </a:p>
          <a:p>
            <a:pPr marL="457200" indent="-457200" algn="just">
              <a:buFont typeface="Arial" panose="020B0604020202020204" pitchFamily="34" charset="0"/>
              <a:buChar char="•"/>
            </a:pPr>
            <a:r>
              <a:rPr lang="en-IN" sz="2800" dirty="0">
                <a:solidFill>
                  <a:schemeClr val="tx1"/>
                </a:solidFill>
              </a:rPr>
              <a:t>Perform semantic mapping to SQAG templates</a:t>
            </a:r>
          </a:p>
          <a:p>
            <a:pPr marL="457200" indent="-457200" algn="just">
              <a:buFont typeface="Arial" panose="020B0604020202020204" pitchFamily="34" charset="0"/>
              <a:buChar char="•"/>
            </a:pPr>
            <a:r>
              <a:rPr lang="en-IN" sz="2800" dirty="0">
                <a:solidFill>
                  <a:schemeClr val="tx1"/>
                </a:solidFill>
              </a:rPr>
              <a:t>Enable prompt-driven compliance evaluation</a:t>
            </a:r>
          </a:p>
          <a:p>
            <a:pPr marL="457200" indent="-457200" algn="just">
              <a:buFont typeface="Arial" panose="020B0604020202020204" pitchFamily="34" charset="0"/>
              <a:buChar char="•"/>
            </a:pPr>
            <a:r>
              <a:rPr lang="en-IN" sz="2800" dirty="0">
                <a:solidFill>
                  <a:schemeClr val="tx1"/>
                </a:solidFill>
              </a:rPr>
              <a:t>Provide a Streamlit dashboard with scoring and reports</a:t>
            </a:r>
          </a:p>
        </p:txBody>
      </p:sp>
      <p:pic>
        <p:nvPicPr>
          <p:cNvPr id="20" name="Picture 19">
            <a:extLst>
              <a:ext uri="{FF2B5EF4-FFF2-40B4-BE49-F238E27FC236}">
                <a16:creationId xmlns:a16="http://schemas.microsoft.com/office/drawing/2014/main" id="{AF13A121-45BA-4613-9D48-51CE13FE56A1}"/>
              </a:ext>
            </a:extLst>
          </p:cNvPr>
          <p:cNvPicPr>
            <a:picLocks noChangeAspect="1"/>
          </p:cNvPicPr>
          <p:nvPr/>
        </p:nvPicPr>
        <p:blipFill>
          <a:blip r:embed="rId5"/>
          <a:stretch>
            <a:fillRect/>
          </a:stretch>
        </p:blipFill>
        <p:spPr>
          <a:xfrm>
            <a:off x="681608" y="9830472"/>
            <a:ext cx="20020410" cy="9473711"/>
          </a:xfrm>
          <a:prstGeom prst="rect">
            <a:avLst/>
          </a:prstGeom>
        </p:spPr>
      </p:pic>
      <p:sp>
        <p:nvSpPr>
          <p:cNvPr id="34" name="Rectangle 33">
            <a:extLst>
              <a:ext uri="{FF2B5EF4-FFF2-40B4-BE49-F238E27FC236}">
                <a16:creationId xmlns:a16="http://schemas.microsoft.com/office/drawing/2014/main" id="{3A4BEC2E-97DC-4849-803C-19C23CD1F8FC}"/>
              </a:ext>
            </a:extLst>
          </p:cNvPr>
          <p:cNvSpPr/>
          <p:nvPr/>
        </p:nvSpPr>
        <p:spPr>
          <a:xfrm>
            <a:off x="7312437" y="3400348"/>
            <a:ext cx="6446722" cy="7822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rPr>
              <a:t>Problem Statement</a:t>
            </a:r>
          </a:p>
        </p:txBody>
      </p:sp>
      <p:sp>
        <p:nvSpPr>
          <p:cNvPr id="35" name="Rectangle 34">
            <a:extLst>
              <a:ext uri="{FF2B5EF4-FFF2-40B4-BE49-F238E27FC236}">
                <a16:creationId xmlns:a16="http://schemas.microsoft.com/office/drawing/2014/main" id="{890524B6-D221-4856-814C-AF893A252D73}"/>
              </a:ext>
            </a:extLst>
          </p:cNvPr>
          <p:cNvSpPr/>
          <p:nvPr/>
        </p:nvSpPr>
        <p:spPr>
          <a:xfrm>
            <a:off x="14883476" y="24880282"/>
            <a:ext cx="5835132" cy="8163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rPr>
              <a:t>Challenges</a:t>
            </a:r>
          </a:p>
        </p:txBody>
      </p:sp>
      <p:sp>
        <p:nvSpPr>
          <p:cNvPr id="36" name="Rectangle 35">
            <a:extLst>
              <a:ext uri="{FF2B5EF4-FFF2-40B4-BE49-F238E27FC236}">
                <a16:creationId xmlns:a16="http://schemas.microsoft.com/office/drawing/2014/main" id="{AFC489E4-2906-4616-8161-30251AE81A62}"/>
              </a:ext>
            </a:extLst>
          </p:cNvPr>
          <p:cNvSpPr/>
          <p:nvPr/>
        </p:nvSpPr>
        <p:spPr>
          <a:xfrm>
            <a:off x="14817346" y="25642957"/>
            <a:ext cx="5977434" cy="1432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r>
              <a:rPr lang="en-US" sz="2800" dirty="0">
                <a:solidFill>
                  <a:schemeClr val="tx1"/>
                </a:solidFill>
              </a:rPr>
              <a:t>Irregular SRS Formats</a:t>
            </a:r>
          </a:p>
          <a:p>
            <a:pPr marL="457200" indent="-457200">
              <a:buFont typeface="Arial" panose="020B0604020202020204" pitchFamily="34" charset="0"/>
              <a:buChar char="•"/>
            </a:pPr>
            <a:r>
              <a:rPr lang="en-US" sz="2800" dirty="0">
                <a:solidFill>
                  <a:schemeClr val="tx1"/>
                </a:solidFill>
              </a:rPr>
              <a:t>Complex Diagrams &amp; Figures</a:t>
            </a:r>
          </a:p>
          <a:p>
            <a:pPr marL="457200" indent="-457200">
              <a:buFont typeface="Arial" panose="020B0604020202020204" pitchFamily="34" charset="0"/>
              <a:buChar char="•"/>
            </a:pPr>
            <a:r>
              <a:rPr lang="en-US" sz="2800" dirty="0">
                <a:solidFill>
                  <a:schemeClr val="tx1"/>
                </a:solidFill>
              </a:rPr>
              <a:t>LLM Prompt Sensitivity &amp; Grounding</a:t>
            </a:r>
          </a:p>
        </p:txBody>
      </p:sp>
    </p:spTree>
    <p:extLst>
      <p:ext uri="{BB962C8B-B14F-4D97-AF65-F5344CB8AC3E}">
        <p14:creationId xmlns:p14="http://schemas.microsoft.com/office/powerpoint/2010/main" val="15678991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225</TotalTime>
  <Words>576</Words>
  <Application>Microsoft Office PowerPoint</Application>
  <PresentationFormat>Custom</PresentationFormat>
  <Paragraphs>73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Anand</dc:creator>
  <cp:lastModifiedBy>Aayush Anand</cp:lastModifiedBy>
  <cp:revision>8</cp:revision>
  <dcterms:created xsi:type="dcterms:W3CDTF">2026-01-19T01:43:33Z</dcterms:created>
  <dcterms:modified xsi:type="dcterms:W3CDTF">2026-01-20T02:15:48Z</dcterms:modified>
</cp:coreProperties>
</file>